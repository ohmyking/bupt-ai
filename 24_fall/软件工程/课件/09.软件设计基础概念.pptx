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84" d="100"/>
          <a:sy n="84" d="100"/>
        </p:scale>
        <p:origin x="750" y="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CE1A456-76DF-4C3E-B18E-E6C9387CD2B9}" type="slidenum">
              <a:rPr lang="en-US" altLang="zh-CN" smtClean="0"/>
              <a:t>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7" name="日期占位符 6"/>
          <p:cNvSpPr>
            <a:spLocks noGrp="1"/>
          </p:cNvSpPr>
          <p:nvPr>
            <p:ph type="dt" sz="half" idx="10"/>
          </p:nvPr>
        </p:nvSpPr>
        <p:spPr/>
        <p:txBody>
          <a:bodyPr/>
          <a:lstStyle>
            <a:lvl1pPr>
              <a:defRPr>
                <a:solidFill>
                  <a:schemeClr val="bg1"/>
                </a:solidFill>
              </a:defRPr>
            </a:lvl1pPr>
          </a:lstStyle>
          <a:p>
            <a:fld id="{99D56F01-E2C9-40C9-B82A-4ACE4763F009}" type="datetime1">
              <a:rPr lang="zh-CN" altLang="en-US" smtClean="0"/>
              <a:t>2024/9/9</a:t>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zh-CN" altLang="en-US"/>
              <a:t>人工智能学院</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t>‹#›</a:t>
            </a:fld>
            <a:endParaRPr lang="zh-CN" altLang="en-US" dirty="0"/>
          </a:p>
        </p:txBody>
      </p:sp>
      <p:sp>
        <p:nvSpPr>
          <p:cNvPr id="11" name="标题 10"/>
          <p:cNvSpPr>
            <a:spLocks noGrp="1"/>
          </p:cNvSpPr>
          <p:nvPr>
            <p:ph type="title"/>
          </p:nvPr>
        </p:nvSpPr>
        <p:spPr/>
        <p:txBody>
          <a:bodyPr/>
          <a:lstStyle/>
          <a:p>
            <a:r>
              <a:rPr lang="zh-CN" altLang="en-US"/>
              <a:t>单击此处编辑母版标题样式</a:t>
            </a:r>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100000">
              <a:schemeClr val="bg2">
                <a:lumMod val="7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87488" y="275970"/>
            <a:ext cx="10334625" cy="645258"/>
          </a:xfrm>
        </p:spPr>
        <p:txBody>
          <a:bodyPr>
            <a:normAutofit/>
          </a:bodyPr>
          <a:lstStyle>
            <a:lvl1pPr algn="r">
              <a:defRPr sz="3200" b="1" baseline="0">
                <a:solidFill>
                  <a:schemeClr val="tx1"/>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内容占位符 2"/>
          <p:cNvSpPr>
            <a:spLocks noGrp="1"/>
          </p:cNvSpPr>
          <p:nvPr>
            <p:ph idx="1"/>
          </p:nvPr>
        </p:nvSpPr>
        <p:spPr>
          <a:xfrm>
            <a:off x="551384" y="1196123"/>
            <a:ext cx="11089231" cy="4980840"/>
          </a:xfrm>
        </p:spPr>
        <p:txBody>
          <a:bodyPr/>
          <a:lstStyle>
            <a:lvl1pPr marL="230505" indent="-230505">
              <a:lnSpc>
                <a:spcPct val="100000"/>
              </a:lnSpc>
              <a:spcBef>
                <a:spcPts val="1000"/>
              </a:spcBef>
              <a:spcAft>
                <a:spcPts val="600"/>
              </a:spcAft>
              <a:defRPr sz="2400" baseline="0">
                <a:solidFill>
                  <a:schemeClr val="tx1"/>
                </a:solidFill>
                <a:latin typeface="微软雅黑" panose="020B0503020204020204" charset="-122"/>
                <a:ea typeface="微软雅黑" panose="020B0503020204020204" charset="-122"/>
              </a:defRPr>
            </a:lvl1pPr>
            <a:lvl2pPr marL="687705" indent="-230505">
              <a:lnSpc>
                <a:spcPct val="100000"/>
              </a:lnSpc>
              <a:spcBef>
                <a:spcPts val="500"/>
              </a:spcBef>
              <a:spcAft>
                <a:spcPts val="600"/>
              </a:spcAft>
              <a:defRPr sz="2000" baseline="0">
                <a:solidFill>
                  <a:schemeClr val="tx1"/>
                </a:solidFill>
                <a:latin typeface="微软雅黑" panose="020B0503020204020204" charset="-122"/>
                <a:ea typeface="微软雅黑" panose="020B0503020204020204" charset="-122"/>
              </a:defRPr>
            </a:lvl2pPr>
            <a:lvl3pPr marL="1144905" indent="-230505">
              <a:lnSpc>
                <a:spcPct val="100000"/>
              </a:lnSpc>
              <a:spcBef>
                <a:spcPts val="500"/>
              </a:spcBef>
              <a:spcAft>
                <a:spcPts val="600"/>
              </a:spcAft>
              <a:defRPr sz="1800" baseline="0">
                <a:solidFill>
                  <a:schemeClr val="tx1"/>
                </a:solidFill>
                <a:latin typeface="微软雅黑" panose="020B0503020204020204" charset="-122"/>
                <a:ea typeface="微软雅黑" panose="020B0503020204020204" charset="-122"/>
              </a:defRPr>
            </a:lvl3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B4D2DCC1-15E0-4766-B9DB-B072AE9EB93D}" type="datetime1">
              <a:rPr lang="zh-CN" altLang="en-US" smtClean="0"/>
              <a:t>2024/9/9</a:t>
            </a:fld>
            <a:endParaRPr lang="zh-CN" altLang="en-US" dirty="0"/>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zh-CN" altLang="en-US"/>
              <a:t>人工智能学院</a:t>
            </a:r>
            <a:endParaRPr lang="zh-CN" altLang="en-US"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t>‹#›</a:t>
            </a:fld>
            <a:endParaRPr lang="zh-CN" altLang="en-US" dirty="0"/>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FB5A755F-055F-46D3-B591-B90CAC90D59D}" type="datetime1">
              <a:rPr lang="zh-CN" altLang="en-US" smtClean="0"/>
              <a:t>2024/9/9</a:t>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zh-CN" altLang="en-US"/>
              <a:t>人工智能学院</a:t>
            </a:r>
            <a:endParaRPr lang="zh-CN" altLang="en-US"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t>‹#›</a:t>
            </a:fld>
            <a:endParaRPr lang="zh-CN" altLang="en-US"/>
          </a:p>
        </p:txBody>
      </p:sp>
      <p:pic>
        <p:nvPicPr>
          <p:cNvPr id="7" name="图片 6">
            <a:extLst>
              <a:ext uri="{FF2B5EF4-FFF2-40B4-BE49-F238E27FC236}">
                <a16:creationId xmlns:a16="http://schemas.microsoft.com/office/drawing/2014/main" id="{14D906E0-9CFB-6177-3C65-84547FAD678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0"/>
            <a:ext cx="1154636" cy="11481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a:solidFill>
                  <a:prstClr val="white"/>
                </a:solidFill>
                <a:latin typeface="微软雅黑" panose="020B0503020204020204" charset="-122"/>
                <a:ea typeface="微软雅黑" panose="020B0503020204020204" charset="-122"/>
              </a:rPr>
              <a:t>软件工程 模型与方法</a:t>
            </a:r>
            <a:endParaRPr lang="en-US" altLang="zh-CN" sz="4000" b="1" dirty="0">
              <a:solidFill>
                <a:prstClr val="white"/>
              </a:solidFill>
              <a:latin typeface="微软雅黑" panose="020B0503020204020204" charset="-122"/>
              <a:ea typeface="微软雅黑" panose="020B0503020204020204" charset="-122"/>
            </a:endParaRPr>
          </a:p>
          <a:p>
            <a:pPr algn="l" eaLnBrk="1" fontAlgn="auto" hangingPunct="1">
              <a:lnSpc>
                <a:spcPct val="100000"/>
              </a:lnSpc>
              <a:spcBef>
                <a:spcPts val="0"/>
              </a:spcBef>
              <a:spcAft>
                <a:spcPts val="0"/>
              </a:spcAft>
            </a:pPr>
            <a:r>
              <a:rPr lang="en-US" altLang="zh-CN" sz="3200" b="1" dirty="0">
                <a:solidFill>
                  <a:prstClr val="white"/>
                </a:solidFill>
                <a:latin typeface="微软雅黑" panose="020B0503020204020204" charset="-122"/>
                <a:ea typeface="微软雅黑" panose="020B0503020204020204" charset="-122"/>
              </a:rPr>
              <a:t>Models &amp; Methods of SE</a:t>
            </a:r>
            <a:endParaRPr lang="zh-CN" altLang="en-US" sz="3200" b="1" dirty="0">
              <a:solidFill>
                <a:prstClr val="white"/>
              </a:solidFill>
              <a:latin typeface="微软雅黑" panose="020B0503020204020204" charset="-122"/>
              <a:ea typeface="微软雅黑" panose="020B0503020204020204" charset="-122"/>
            </a:endParaRPr>
          </a:p>
        </p:txBody>
      </p:sp>
      <p:sp>
        <p:nvSpPr>
          <p:cNvPr id="4" name="文本框 3"/>
          <p:cNvSpPr txBox="1"/>
          <p:nvPr/>
        </p:nvSpPr>
        <p:spPr>
          <a:xfrm>
            <a:off x="1812569" y="3222755"/>
            <a:ext cx="5151120" cy="46037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400" b="1" dirty="0">
                <a:solidFill>
                  <a:prstClr val="white"/>
                </a:solidFill>
                <a:latin typeface="微软雅黑" panose="020B0503020204020204" charset="-122"/>
                <a:ea typeface="微软雅黑" panose="020B0503020204020204" charset="-122"/>
              </a:rPr>
              <a:t>软件设计基础概念</a:t>
            </a:r>
            <a:endParaRPr lang="en-US" altLang="zh-CN" sz="2400" b="1" dirty="0">
              <a:solidFill>
                <a:prstClr val="white"/>
              </a:solidFill>
              <a:latin typeface="微软雅黑" panose="020B0503020204020204" charset="-122"/>
              <a:ea typeface="微软雅黑" panose="020B0503020204020204" charset="-122"/>
            </a:endParaRPr>
          </a:p>
        </p:txBody>
      </p:sp>
      <p:sp>
        <p:nvSpPr>
          <p:cNvPr id="10" name="日期占位符 9"/>
          <p:cNvSpPr>
            <a:spLocks noGrp="1"/>
          </p:cNvSpPr>
          <p:nvPr>
            <p:ph type="dt" sz="half" idx="10"/>
          </p:nvPr>
        </p:nvSpPr>
        <p:spPr/>
        <p:txBody>
          <a:bodyPr/>
          <a:lstStyle/>
          <a:p>
            <a:fld id="{43559C30-04A0-433B-AAD3-6DDF6BAB7230}" type="datetime1">
              <a:rPr lang="zh-CN" altLang="en-US" smtClean="0"/>
              <a:t>2024/9/9</a:t>
            </a:fld>
            <a:endParaRPr lang="zh-CN" altLang="en-US" dirty="0"/>
          </a:p>
        </p:txBody>
      </p:sp>
      <p:sp>
        <p:nvSpPr>
          <p:cNvPr id="11" name="页脚占位符 10"/>
          <p:cNvSpPr>
            <a:spLocks noGrp="1"/>
          </p:cNvSpPr>
          <p:nvPr>
            <p:ph type="ftr" sz="quarter" idx="11"/>
          </p:nvPr>
        </p:nvSpPr>
        <p:spPr/>
        <p:txBody>
          <a:bodyPr/>
          <a:lstStyle/>
          <a:p>
            <a:r>
              <a:rPr lang="zh-CN" altLang="en-US"/>
              <a:t>人工智能学院</a:t>
            </a:r>
            <a:endParaRPr lang="zh-CN" altLang="en-US" dirty="0">
              <a:solidFill>
                <a:prstClr val="white"/>
              </a:solidFill>
            </a:endParaRPr>
          </a:p>
        </p:txBody>
      </p:sp>
      <p:sp>
        <p:nvSpPr>
          <p:cNvPr id="13" name="灯片编号占位符 12"/>
          <p:cNvSpPr>
            <a:spLocks noGrp="1"/>
          </p:cNvSpPr>
          <p:nvPr>
            <p:ph type="sldNum" sz="quarter" idx="12"/>
          </p:nvPr>
        </p:nvSpPr>
        <p:spPr/>
        <p:txBody>
          <a:bodyPr/>
          <a:lstStyle/>
          <a:p>
            <a:fld id="{65C61107-C9B8-45B5-BD23-C8A00455B7E2}" type="slidenum">
              <a:rPr lang="zh-CN" altLang="en-US" smtClean="0"/>
              <a:t>1</a:t>
            </a:fld>
            <a:endParaRPr lang="zh-CN" altLang="en-US" dirty="0"/>
          </a:p>
        </p:txBody>
      </p:sp>
      <p:sp>
        <p:nvSpPr>
          <p:cNvPr id="2" name="文本框 11">
            <a:extLst>
              <a:ext uri="{FF2B5EF4-FFF2-40B4-BE49-F238E27FC236}">
                <a16:creationId xmlns:a16="http://schemas.microsoft.com/office/drawing/2014/main" id="{A629C2A0-C21B-F53D-4CC7-5608E706FF48}"/>
              </a:ext>
            </a:extLst>
          </p:cNvPr>
          <p:cNvSpPr txBox="1"/>
          <p:nvPr/>
        </p:nvSpPr>
        <p:spPr>
          <a:xfrm>
            <a:off x="1812569" y="3990010"/>
            <a:ext cx="96164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bg1"/>
                </a:solidFill>
                <a:latin typeface="微软雅黑" panose="020B0503020204020204" pitchFamily="34" charset="-122"/>
                <a:ea typeface="微软雅黑" panose="020B0503020204020204" pitchFamily="34" charset="-122"/>
              </a:rPr>
              <a:t>肖丁</a:t>
            </a:r>
            <a:r>
              <a:rPr lang="zh-CN" altLang="en-US" sz="2000" b="1" dirty="0">
                <a:solidFill>
                  <a:schemeClr val="bg1"/>
                </a:solidFill>
                <a:latin typeface="微软雅黑" panose="020B0503020204020204" pitchFamily="34" charset="-122"/>
                <a:ea typeface="微软雅黑" panose="020B0503020204020204" pitchFamily="34" charset="-122"/>
              </a:rPr>
              <a:t>老师</a:t>
            </a:r>
            <a:r>
              <a:rPr lang="en-US" altLang="zh-CN" sz="2000" b="1" dirty="0">
                <a:solidFill>
                  <a:schemeClr val="bg1"/>
                </a:solidFill>
                <a:latin typeface="微软雅黑" panose="020B0503020204020204" pitchFamily="34" charset="-122"/>
                <a:ea typeface="微软雅黑" panose="020B0503020204020204" pitchFamily="34" charset="-122"/>
              </a:rPr>
              <a:t>: dxiao@bupt.edu.cn 	   QQ:14915703</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a:t>本章内容</a:t>
            </a:r>
          </a:p>
        </p:txBody>
      </p:sp>
      <p:sp>
        <p:nvSpPr>
          <p:cNvPr id="6148" name="Rectangle 3"/>
          <p:cNvSpPr>
            <a:spLocks noGrp="1" noChangeArrowheads="1"/>
          </p:cNvSpPr>
          <p:nvPr>
            <p:ph idx="1"/>
          </p:nvPr>
        </p:nvSpPr>
        <p:spPr>
          <a:xfrm>
            <a:off x="551384" y="1052736"/>
            <a:ext cx="11089231" cy="5124227"/>
          </a:xfrm>
        </p:spPr>
        <p:txBody>
          <a:bodyPr>
            <a:normAutofit/>
          </a:bodyPr>
          <a:lstStyle/>
          <a:p>
            <a:r>
              <a:rPr lang="zh-CN" altLang="en-US" sz="2400" dirty="0"/>
              <a:t>软件设计的目标</a:t>
            </a:r>
            <a:endParaRPr lang="en-US" altLang="zh-CN" sz="2400" dirty="0"/>
          </a:p>
          <a:p>
            <a:r>
              <a:rPr lang="zh-CN" altLang="en-US" sz="2400" dirty="0"/>
              <a:t>软件的设计过程</a:t>
            </a:r>
          </a:p>
          <a:p>
            <a:pPr lvl="1"/>
            <a:r>
              <a:rPr lang="zh-CN" altLang="en-US" sz="2000" dirty="0"/>
              <a:t>软件概要设计</a:t>
            </a:r>
          </a:p>
          <a:p>
            <a:pPr lvl="1"/>
            <a:r>
              <a:rPr lang="zh-CN" altLang="en-US" sz="2000" dirty="0"/>
              <a:t>软件详细设计</a:t>
            </a:r>
          </a:p>
          <a:p>
            <a:r>
              <a:rPr lang="zh-CN" altLang="en-US" sz="2400" dirty="0"/>
              <a:t>软件设计模型</a:t>
            </a:r>
            <a:endParaRPr lang="en-US" altLang="zh-CN" sz="2400" dirty="0"/>
          </a:p>
          <a:p>
            <a:r>
              <a:rPr lang="zh-CN" altLang="en-US" sz="2400" dirty="0"/>
              <a:t>软件设计的一般性原则</a:t>
            </a:r>
            <a:endParaRPr lang="en-US" altLang="zh-CN" sz="2400" dirty="0"/>
          </a:p>
          <a:p>
            <a:pPr lvl="1"/>
            <a:r>
              <a:rPr lang="zh-CN" altLang="en-US" sz="2000" dirty="0"/>
              <a:t>面向对象的设计原则</a:t>
            </a:r>
          </a:p>
          <a:p>
            <a:r>
              <a:rPr lang="zh-CN" altLang="en-US" sz="2400" dirty="0"/>
              <a:t>软件设计基础</a:t>
            </a:r>
          </a:p>
          <a:p>
            <a:r>
              <a:rPr lang="zh-CN" altLang="en-US" sz="2400" dirty="0"/>
              <a:t>软件体系结构简介</a:t>
            </a:r>
          </a:p>
        </p:txBody>
      </p:sp>
      <p:sp>
        <p:nvSpPr>
          <p:cNvPr id="4" name="日期占位符 3"/>
          <p:cNvSpPr>
            <a:spLocks noGrp="1"/>
          </p:cNvSpPr>
          <p:nvPr>
            <p:ph type="dt" sz="half" idx="10"/>
          </p:nvPr>
        </p:nvSpPr>
        <p:spPr/>
        <p:txBody>
          <a:bodyPr/>
          <a:lstStyle/>
          <a:p>
            <a:fld id="{27ED330E-5707-4114-AF00-DDE96DB9BA20}"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a:t>
            </a:fld>
            <a:endParaRPr lang="zh-CN" altLang="en-US" dirty="0"/>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a:t>引言</a:t>
            </a:r>
          </a:p>
        </p:txBody>
      </p:sp>
      <p:sp>
        <p:nvSpPr>
          <p:cNvPr id="74755" name="Rectangle 3"/>
          <p:cNvSpPr>
            <a:spLocks noGrp="1" noChangeArrowheads="1"/>
          </p:cNvSpPr>
          <p:nvPr>
            <p:ph idx="1"/>
          </p:nvPr>
        </p:nvSpPr>
        <p:spPr/>
        <p:txBody>
          <a:bodyPr/>
          <a:lstStyle/>
          <a:p>
            <a:pPr>
              <a:spcBef>
                <a:spcPts val="600"/>
              </a:spcBef>
              <a:spcAft>
                <a:spcPts val="600"/>
              </a:spcAft>
            </a:pPr>
            <a:r>
              <a:rPr lang="zh-CN" altLang="en-US" sz="2400" dirty="0"/>
              <a:t>相对于分析而言，设计是什么？为什么要进行设计？</a:t>
            </a:r>
          </a:p>
          <a:p>
            <a:pPr>
              <a:spcBef>
                <a:spcPts val="600"/>
              </a:spcBef>
              <a:spcAft>
                <a:spcPts val="600"/>
              </a:spcAft>
            </a:pPr>
            <a:r>
              <a:rPr lang="zh-CN" altLang="en-US" sz="2400" dirty="0"/>
              <a:t>软件设计在软件开发过程中处于什么位置？</a:t>
            </a:r>
          </a:p>
          <a:p>
            <a:pPr>
              <a:spcBef>
                <a:spcPts val="600"/>
              </a:spcBef>
              <a:spcAft>
                <a:spcPts val="600"/>
              </a:spcAft>
            </a:pPr>
            <a:r>
              <a:rPr lang="zh-CN" altLang="en-US" sz="2400" dirty="0"/>
              <a:t>经过软件需求分析，确定了系统必须“做什么”的功能，然而这些功能是如何实现用户需求的呢？</a:t>
            </a:r>
          </a:p>
          <a:p>
            <a:pPr>
              <a:spcBef>
                <a:spcPts val="600"/>
              </a:spcBef>
              <a:spcAft>
                <a:spcPts val="600"/>
              </a:spcAft>
            </a:pPr>
            <a:r>
              <a:rPr lang="zh-CN" altLang="en-US" sz="2400" dirty="0"/>
              <a:t>为了实现合理分配系统功能并尽可能提高处理用户需求的性能，系统中这些功能之间是什么关系呢？</a:t>
            </a:r>
          </a:p>
          <a:p>
            <a:pPr>
              <a:lnSpc>
                <a:spcPct val="70000"/>
              </a:lnSpc>
            </a:pPr>
            <a:r>
              <a:rPr lang="zh-CN" altLang="en-US" dirty="0"/>
              <a:t>围绕着核心功能的设计，界面和数据库表的设计如何考虑？</a:t>
            </a:r>
            <a:endParaRPr lang="en-US" altLang="zh-CN" dirty="0"/>
          </a:p>
          <a:p>
            <a:pPr>
              <a:lnSpc>
                <a:spcPct val="70000"/>
              </a:lnSpc>
            </a:pPr>
            <a:r>
              <a:rPr lang="en-US" altLang="zh-CN" sz="2800" dirty="0"/>
              <a:t>……</a:t>
            </a:r>
          </a:p>
        </p:txBody>
      </p:sp>
      <p:sp>
        <p:nvSpPr>
          <p:cNvPr id="4" name="日期占位符 3"/>
          <p:cNvSpPr>
            <a:spLocks noGrp="1"/>
          </p:cNvSpPr>
          <p:nvPr>
            <p:ph type="dt" sz="half" idx="10"/>
          </p:nvPr>
        </p:nvSpPr>
        <p:spPr/>
        <p:txBody>
          <a:bodyPr/>
          <a:lstStyle/>
          <a:p>
            <a:fld id="{A5CE4C37-DA45-42C5-B369-1CCEAFE69CA6}"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additive="base">
                                        <p:cTn id="13" dur="500" fill="hold"/>
                                        <p:tgtEl>
                                          <p:spTgt spid="747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755">
                                            <p:txEl>
                                              <p:pRg st="2" end="2"/>
                                            </p:txEl>
                                          </p:spTgt>
                                        </p:tgtEl>
                                        <p:attrNameLst>
                                          <p:attrName>style.visibility</p:attrName>
                                        </p:attrNameLst>
                                      </p:cBhvr>
                                      <p:to>
                                        <p:strVal val="visible"/>
                                      </p:to>
                                    </p:set>
                                    <p:anim calcmode="lin" valueType="num">
                                      <p:cBhvr additive="base">
                                        <p:cTn id="19" dur="500" fill="hold"/>
                                        <p:tgtEl>
                                          <p:spTgt spid="747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755">
                                            <p:txEl>
                                              <p:pRg st="3" end="3"/>
                                            </p:txEl>
                                          </p:spTgt>
                                        </p:tgtEl>
                                        <p:attrNameLst>
                                          <p:attrName>style.visibility</p:attrName>
                                        </p:attrNameLst>
                                      </p:cBhvr>
                                      <p:to>
                                        <p:strVal val="visible"/>
                                      </p:to>
                                    </p:set>
                                    <p:anim calcmode="lin" valueType="num">
                                      <p:cBhvr additive="base">
                                        <p:cTn id="25" dur="500" fill="hold"/>
                                        <p:tgtEl>
                                          <p:spTgt spid="747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4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4755">
                                            <p:txEl>
                                              <p:pRg st="4" end="4"/>
                                            </p:txEl>
                                          </p:spTgt>
                                        </p:tgtEl>
                                        <p:attrNameLst>
                                          <p:attrName>style.visibility</p:attrName>
                                        </p:attrNameLst>
                                      </p:cBhvr>
                                      <p:to>
                                        <p:strVal val="visible"/>
                                      </p:to>
                                    </p:set>
                                    <p:anim calcmode="lin" valueType="num">
                                      <p:cBhvr additive="base">
                                        <p:cTn id="31" dur="500" fill="hold"/>
                                        <p:tgtEl>
                                          <p:spTgt spid="747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47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4755">
                                            <p:txEl>
                                              <p:pRg st="5" end="5"/>
                                            </p:txEl>
                                          </p:spTgt>
                                        </p:tgtEl>
                                        <p:attrNameLst>
                                          <p:attrName>style.visibility</p:attrName>
                                        </p:attrNameLst>
                                      </p:cBhvr>
                                      <p:to>
                                        <p:strVal val="visible"/>
                                      </p:to>
                                    </p:set>
                                    <p:anim calcmode="lin" valueType="num">
                                      <p:cBhvr additive="base">
                                        <p:cTn id="37" dur="500" fill="hold"/>
                                        <p:tgtEl>
                                          <p:spTgt spid="747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47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a:t>软件设计历史</a:t>
            </a:r>
          </a:p>
        </p:txBody>
      </p:sp>
      <p:sp>
        <p:nvSpPr>
          <p:cNvPr id="13315" name="Rectangle 3"/>
          <p:cNvSpPr>
            <a:spLocks noGrp="1" noChangeArrowheads="1"/>
          </p:cNvSpPr>
          <p:nvPr>
            <p:ph idx="1"/>
          </p:nvPr>
        </p:nvSpPr>
        <p:spPr/>
        <p:txBody>
          <a:bodyPr>
            <a:normAutofit/>
          </a:bodyPr>
          <a:lstStyle/>
          <a:p>
            <a:r>
              <a:rPr lang="zh-CN" altLang="en-US" dirty="0"/>
              <a:t>早期的设计工作集中在模块化程序的开发标准和自顶向下求精软件结构的方法，称为结构化程序设计的理论。 </a:t>
            </a:r>
          </a:p>
          <a:p>
            <a:r>
              <a:rPr lang="zh-CN" altLang="en-US" dirty="0"/>
              <a:t>之后提出了将数据流或数据结构转化为设计定义的方法，目前又提出了面向对象的方法进行软件设计。 </a:t>
            </a:r>
          </a:p>
          <a:p>
            <a:r>
              <a:rPr lang="zh-CN" altLang="en-US" dirty="0"/>
              <a:t>如今，在软件设计方面的着重点已转移到软件体系结构和可用于实现软件体系结构的设计模式。</a:t>
            </a:r>
            <a:endParaRPr lang="en-US" altLang="zh-CN" dirty="0"/>
          </a:p>
          <a:p>
            <a:r>
              <a:rPr lang="zh-CN" altLang="en-US" dirty="0"/>
              <a:t>各种软件设计方法都具有以下共同特征： </a:t>
            </a:r>
          </a:p>
          <a:p>
            <a:pPr lvl="1"/>
            <a:r>
              <a:rPr lang="zh-CN" altLang="en-US" dirty="0">
                <a:solidFill>
                  <a:srgbClr val="FF0000"/>
                </a:solidFill>
              </a:rPr>
              <a:t>一种用于将分析模型变换到设计模型的表示机制</a:t>
            </a:r>
            <a:r>
              <a:rPr lang="zh-CN" altLang="en-US" dirty="0">
                <a:solidFill>
                  <a:srgbClr val="FFFF00"/>
                </a:solidFill>
              </a:rPr>
              <a:t>；</a:t>
            </a:r>
          </a:p>
          <a:p>
            <a:pPr lvl="1"/>
            <a:r>
              <a:rPr lang="zh-CN" altLang="en-US" dirty="0"/>
              <a:t>用于表示功能件构件及其接口的符号体系；</a:t>
            </a:r>
          </a:p>
          <a:p>
            <a:pPr lvl="1"/>
            <a:r>
              <a:rPr lang="zh-CN" altLang="en-US" dirty="0"/>
              <a:t>用于求精（优化）和划分的启发机制；</a:t>
            </a:r>
          </a:p>
          <a:p>
            <a:endParaRPr lang="zh-CN" altLang="en-US" dirty="0"/>
          </a:p>
        </p:txBody>
      </p:sp>
      <p:sp>
        <p:nvSpPr>
          <p:cNvPr id="4" name="日期占位符 3"/>
          <p:cNvSpPr>
            <a:spLocks noGrp="1"/>
          </p:cNvSpPr>
          <p:nvPr>
            <p:ph type="dt" sz="half" idx="10"/>
          </p:nvPr>
        </p:nvSpPr>
        <p:spPr/>
        <p:txBody>
          <a:bodyPr/>
          <a:lstStyle/>
          <a:p>
            <a:fld id="{606D1A75-F1B9-4053-B743-D8DC7E99584F}"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4</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5" dur="500"/>
                                        <p:tgtEl>
                                          <p:spTgt spid="1331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28" dur="500"/>
                                        <p:tgtEl>
                                          <p:spTgt spid="1331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1" dur="500"/>
                                        <p:tgtEl>
                                          <p:spTgt spid="13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a:t>软件设计的目标</a:t>
            </a:r>
          </a:p>
        </p:txBody>
      </p:sp>
      <p:sp>
        <p:nvSpPr>
          <p:cNvPr id="73731" name="Rectangle 3"/>
          <p:cNvSpPr>
            <a:spLocks noGrp="1" noChangeArrowheads="1"/>
          </p:cNvSpPr>
          <p:nvPr>
            <p:ph idx="1"/>
          </p:nvPr>
        </p:nvSpPr>
        <p:spPr>
          <a:xfrm>
            <a:off x="551384" y="1052736"/>
            <a:ext cx="11089231" cy="5124227"/>
          </a:xfrm>
        </p:spPr>
        <p:txBody>
          <a:bodyPr/>
          <a:lstStyle/>
          <a:p>
            <a:r>
              <a:rPr lang="zh-CN" altLang="zh-CN" dirty="0"/>
              <a:t>根据软件需求分析的结果，设想并设计软件，即根据“目标系统”的逻辑模型确定“目标系统”的物理模型</a:t>
            </a:r>
            <a:r>
              <a:rPr lang="zh-CN" altLang="en-US" dirty="0"/>
              <a:t>，</a:t>
            </a:r>
            <a:r>
              <a:rPr lang="zh-CN" altLang="en-US" dirty="0">
                <a:solidFill>
                  <a:srgbClr val="FF0000"/>
                </a:solidFill>
              </a:rPr>
              <a:t>概括地描述系统如何实现用户所提出来的功能和性能等方面的需求？ </a:t>
            </a:r>
          </a:p>
          <a:p>
            <a:pPr lvl="1"/>
            <a:r>
              <a:rPr lang="zh-CN" altLang="zh-CN" dirty="0"/>
              <a:t>软件系统的结构设计、处理方式</a:t>
            </a:r>
            <a:r>
              <a:rPr lang="zh-CN" altLang="en-US" dirty="0"/>
              <a:t>（性能）</a:t>
            </a:r>
            <a:r>
              <a:rPr lang="zh-CN" altLang="zh-CN" dirty="0"/>
              <a:t>的设计</a:t>
            </a:r>
            <a:r>
              <a:rPr lang="zh-CN" altLang="en-US" dirty="0"/>
              <a:t>；</a:t>
            </a:r>
            <a:endParaRPr lang="en-US" altLang="zh-CN" dirty="0"/>
          </a:p>
          <a:p>
            <a:pPr lvl="1"/>
            <a:r>
              <a:rPr lang="zh-CN" altLang="zh-CN" dirty="0"/>
              <a:t>数据结构和数据存储的设计</a:t>
            </a:r>
            <a:r>
              <a:rPr lang="zh-CN" altLang="en-US" dirty="0"/>
              <a:t>；</a:t>
            </a:r>
            <a:endParaRPr lang="en-US" altLang="zh-CN" dirty="0"/>
          </a:p>
          <a:p>
            <a:pPr lvl="1"/>
            <a:r>
              <a:rPr lang="zh-CN" altLang="zh-CN" dirty="0"/>
              <a:t>界面和可靠性设计等</a:t>
            </a:r>
            <a:endParaRPr lang="en-US" altLang="zh-CN" dirty="0"/>
          </a:p>
          <a:p>
            <a:r>
              <a:rPr lang="zh-CN" altLang="en-US" dirty="0"/>
              <a:t>软件设计是软件开发的基础和依据，</a:t>
            </a:r>
            <a:r>
              <a:rPr lang="zh-CN" altLang="zh-CN" dirty="0"/>
              <a:t>是软件工程过程中的技术核心</a:t>
            </a:r>
            <a:endParaRPr lang="en-US" altLang="zh-CN" dirty="0"/>
          </a:p>
          <a:p>
            <a:pPr>
              <a:spcBef>
                <a:spcPct val="30000"/>
              </a:spcBef>
            </a:pPr>
            <a:r>
              <a:rPr lang="zh-CN" altLang="en-US" dirty="0"/>
              <a:t>软件设计的最终目标是要取得最佳方案（</a:t>
            </a:r>
            <a:r>
              <a:rPr lang="en-US" altLang="zh-CN" dirty="0"/>
              <a:t>Best Solution</a:t>
            </a:r>
            <a:r>
              <a:rPr lang="zh-CN" altLang="en-US" dirty="0"/>
              <a:t>，主观）</a:t>
            </a:r>
          </a:p>
          <a:p>
            <a:pPr lvl="1">
              <a:spcBef>
                <a:spcPct val="30000"/>
              </a:spcBef>
            </a:pPr>
            <a:r>
              <a:rPr lang="zh-CN" altLang="en-US" dirty="0"/>
              <a:t>“最佳”是指在所有候选方案中，就节省开发费用，降低资源消耗，缩短开发时间的条件，选择具有较高的生产率、较高的可靠性和可维护性的方案。</a:t>
            </a:r>
            <a:r>
              <a:rPr lang="zh-CN" altLang="en-US" sz="2800" dirty="0"/>
              <a:t> </a:t>
            </a:r>
          </a:p>
          <a:p>
            <a:endParaRPr lang="en-US" altLang="zh-CN" dirty="0"/>
          </a:p>
        </p:txBody>
      </p:sp>
      <p:sp>
        <p:nvSpPr>
          <p:cNvPr id="4" name="日期占位符 3"/>
          <p:cNvSpPr>
            <a:spLocks noGrp="1"/>
          </p:cNvSpPr>
          <p:nvPr>
            <p:ph type="dt" sz="half" idx="10"/>
          </p:nvPr>
        </p:nvSpPr>
        <p:spPr/>
        <p:txBody>
          <a:bodyPr/>
          <a:lstStyle/>
          <a:p>
            <a:fld id="{4216CC90-2BDB-42E3-BDB7-7B4FE0AB32FD}"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5</a:t>
            </a:fld>
            <a:endParaRPr lang="zh-CN" altLang="en-US" dirty="0"/>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a:t>软件设计过程</a:t>
            </a:r>
          </a:p>
        </p:txBody>
      </p:sp>
      <p:sp>
        <p:nvSpPr>
          <p:cNvPr id="39939" name="Rectangle 3"/>
          <p:cNvSpPr>
            <a:spLocks noGrp="1" noChangeArrowheads="1"/>
          </p:cNvSpPr>
          <p:nvPr>
            <p:ph idx="1"/>
          </p:nvPr>
        </p:nvSpPr>
        <p:spPr/>
        <p:txBody>
          <a:bodyPr/>
          <a:lstStyle/>
          <a:p>
            <a:r>
              <a:rPr lang="zh-CN" altLang="zh-CN" dirty="0"/>
              <a:t>软件设计是一个把软件需求变换成包含软件功能模型、数据模型以及行为模型的过程。</a:t>
            </a:r>
            <a:r>
              <a:rPr lang="zh-CN" altLang="en-US" dirty="0"/>
              <a:t>从工程管理的角度，软件设计分成：</a:t>
            </a:r>
          </a:p>
          <a:p>
            <a:pPr lvl="1"/>
            <a:r>
              <a:rPr lang="zh-CN" altLang="en-US" dirty="0"/>
              <a:t>概要设计：</a:t>
            </a:r>
            <a:r>
              <a:rPr lang="zh-CN" altLang="zh-CN" dirty="0"/>
              <a:t>只需描绘出可直接反映功能、数据、行为需求的软件总体框架；</a:t>
            </a:r>
            <a:endParaRPr lang="zh-CN" altLang="en-US" dirty="0"/>
          </a:p>
          <a:p>
            <a:pPr lvl="1"/>
            <a:r>
              <a:rPr lang="zh-CN" altLang="en-US" dirty="0"/>
              <a:t>详细设计：即过程设计，通过对软件结构进行细化，得到各功能模块的详细数据结构和算法，</a:t>
            </a:r>
            <a:r>
              <a:rPr lang="zh-CN" altLang="zh-CN" dirty="0"/>
              <a:t>使得功能模块在细节上非常接近于源程序的软件设计模型。</a:t>
            </a:r>
            <a:r>
              <a:rPr lang="zh-CN" altLang="en-US" dirty="0"/>
              <a:t> </a:t>
            </a:r>
          </a:p>
        </p:txBody>
      </p:sp>
      <p:sp>
        <p:nvSpPr>
          <p:cNvPr id="13317" name="Rectangle 5"/>
          <p:cNvSpPr>
            <a:spLocks noChangeArrowheads="1"/>
          </p:cNvSpPr>
          <p:nvPr/>
        </p:nvSpPr>
        <p:spPr bwMode="auto">
          <a:xfrm>
            <a:off x="10483270" y="2501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9940" name="Object 4"/>
          <p:cNvGraphicFramePr>
            <a:graphicFrameLocks noChangeAspect="1"/>
          </p:cNvGraphicFramePr>
          <p:nvPr/>
        </p:nvGraphicFramePr>
        <p:xfrm>
          <a:off x="551384" y="3573016"/>
          <a:ext cx="4320440" cy="2324468"/>
        </p:xfrm>
        <a:graphic>
          <a:graphicData uri="http://schemas.openxmlformats.org/presentationml/2006/ole">
            <mc:AlternateContent xmlns:mc="http://schemas.openxmlformats.org/markup-compatibility/2006">
              <mc:Choice xmlns:v="urn:schemas-microsoft-com:vml" Requires="v">
                <p:oleObj name="Visio" r:id="rId2" imgW="2924175" imgH="1577340" progId="Visio.Drawing.11">
                  <p:embed/>
                </p:oleObj>
              </mc:Choice>
              <mc:Fallback>
                <p:oleObj name="Visio" r:id="rId2" imgW="2924175" imgH="157734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84" y="3573016"/>
                        <a:ext cx="4320440" cy="2324468"/>
                      </a:xfrm>
                      <a:prstGeom prst="rect">
                        <a:avLst/>
                      </a:prstGeom>
                      <a:noFill/>
                      <a:ln>
                        <a:noFill/>
                      </a:ln>
                    </p:spPr>
                  </p:pic>
                </p:oleObj>
              </mc:Fallback>
            </mc:AlternateContent>
          </a:graphicData>
        </a:graphic>
      </p:graphicFrame>
      <p:sp>
        <p:nvSpPr>
          <p:cNvPr id="4" name="日期占位符 3"/>
          <p:cNvSpPr>
            <a:spLocks noGrp="1"/>
          </p:cNvSpPr>
          <p:nvPr>
            <p:ph type="dt" sz="half" idx="10"/>
          </p:nvPr>
        </p:nvSpPr>
        <p:spPr/>
        <p:txBody>
          <a:bodyPr/>
          <a:lstStyle/>
          <a:p>
            <a:fld id="{F767FB64-1BF5-4053-85F4-F62BF8BD92AC}"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6</a:t>
            </a:fld>
            <a:endParaRPr lang="zh-CN" altLang="en-US" dirty="0"/>
          </a:p>
        </p:txBody>
      </p:sp>
      <p:sp>
        <p:nvSpPr>
          <p:cNvPr id="7" name="矩形 6"/>
          <p:cNvSpPr/>
          <p:nvPr/>
        </p:nvSpPr>
        <p:spPr>
          <a:xfrm>
            <a:off x="5217691" y="3442588"/>
            <a:ext cx="5450310" cy="2739211"/>
          </a:xfrm>
          <a:prstGeom prst="rect">
            <a:avLst/>
          </a:prstGeom>
        </p:spPr>
        <p:txBody>
          <a:bodyPr wrap="square">
            <a:spAutoFit/>
          </a:bodyPr>
          <a:lstStyle/>
          <a:p>
            <a:pPr marL="342900" lvl="0" indent="-342900" algn="just">
              <a:spcBef>
                <a:spcPts val="300"/>
              </a:spcBef>
              <a:spcAft>
                <a:spcPts val="300"/>
              </a:spcAft>
              <a:buFont typeface="Arial" panose="020B0604020202020204" pitchFamily="34" charset="0"/>
              <a:buChar char="•"/>
            </a:pPr>
            <a:r>
              <a:rPr lang="zh-CN" altLang="zh-CN" sz="1800" kern="100" dirty="0">
                <a:solidFill>
                  <a:srgbClr val="FF0000"/>
                </a:solidFill>
                <a:effectLst/>
                <a:latin typeface="微软雅黑" panose="020B0503020204020204" charset="-122"/>
                <a:ea typeface="微软雅黑" panose="020B0503020204020204" charset="-122"/>
              </a:rPr>
              <a:t>系统结构设计定义了软件系统各主要元素（主要指功能模块）之间的关系，其中包括软件的模块接口设计；</a:t>
            </a:r>
          </a:p>
          <a:p>
            <a:pPr marL="342900" lvl="0" indent="-342900" algn="just">
              <a:spcBef>
                <a:spcPts val="300"/>
              </a:spcBef>
              <a:spcAft>
                <a:spcPts val="300"/>
              </a:spcAft>
              <a:buFont typeface="Arial" panose="020B0604020202020204" pitchFamily="34" charset="0"/>
              <a:buChar char="•"/>
            </a:pPr>
            <a:r>
              <a:rPr lang="zh-CN" altLang="zh-CN" sz="1800" kern="100" dirty="0">
                <a:solidFill>
                  <a:srgbClr val="FF0000"/>
                </a:solidFill>
                <a:effectLst/>
                <a:latin typeface="微软雅黑" panose="020B0503020204020204" charset="-122"/>
                <a:ea typeface="微软雅黑" panose="020B0503020204020204" charset="-122"/>
              </a:rPr>
              <a:t>数据设计将软件各模块所需要处理的数据以及系统需要长久保存的数据进行数据结构和数据存储的设计；</a:t>
            </a:r>
          </a:p>
          <a:p>
            <a:pPr marL="342900" lvl="0" indent="-342900" algn="just">
              <a:spcBef>
                <a:spcPts val="300"/>
              </a:spcBef>
              <a:spcAft>
                <a:spcPts val="300"/>
              </a:spcAft>
              <a:buFont typeface="Arial" panose="020B0604020202020204" pitchFamily="34" charset="0"/>
              <a:buChar char="•"/>
            </a:pPr>
            <a:r>
              <a:rPr lang="zh-CN" altLang="zh-CN" sz="1800" kern="100" dirty="0">
                <a:solidFill>
                  <a:srgbClr val="FF0000"/>
                </a:solidFill>
                <a:effectLst/>
                <a:latin typeface="微软雅黑" panose="020B0503020204020204" charset="-122"/>
                <a:ea typeface="微软雅黑" panose="020B0503020204020204" charset="-122"/>
              </a:rPr>
              <a:t>过程设计主要是确定各功能模块内部结构的详细定义，包括模块主要算法逻辑和局部数据结构的定义。</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2" dur="500"/>
                                        <p:tgtEl>
                                          <p:spTgt spid="39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7" dur="500"/>
                                        <p:tgtEl>
                                          <p:spTgt spid="39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9940"/>
                                        </p:tgtEl>
                                        <p:attrNameLst>
                                          <p:attrName>style.visibility</p:attrName>
                                        </p:attrNameLst>
                                      </p:cBhvr>
                                      <p:to>
                                        <p:strVal val="visible"/>
                                      </p:to>
                                    </p:set>
                                    <p:animEffect transition="in" filter="box(in)">
                                      <p:cBhvr>
                                        <p:cTn id="22" dur="500"/>
                                        <p:tgtEl>
                                          <p:spTgt spid="399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a:t>软件概要设计</a:t>
            </a:r>
          </a:p>
        </p:txBody>
      </p:sp>
      <p:sp>
        <p:nvSpPr>
          <p:cNvPr id="16388" name="Rectangle 3"/>
          <p:cNvSpPr>
            <a:spLocks noGrp="1" noChangeArrowheads="1"/>
          </p:cNvSpPr>
          <p:nvPr>
            <p:ph idx="1"/>
          </p:nvPr>
        </p:nvSpPr>
        <p:spPr/>
        <p:txBody>
          <a:bodyPr>
            <a:normAutofit/>
          </a:bodyPr>
          <a:lstStyle/>
          <a:p>
            <a:r>
              <a:rPr lang="zh-CN" altLang="en-US" dirty="0">
                <a:solidFill>
                  <a:srgbClr val="FF0000"/>
                </a:solidFill>
              </a:rPr>
              <a:t>制定设计规范</a:t>
            </a:r>
          </a:p>
          <a:p>
            <a:r>
              <a:rPr lang="zh-CN" altLang="en-US" dirty="0">
                <a:solidFill>
                  <a:srgbClr val="FF0000"/>
                </a:solidFill>
              </a:rPr>
              <a:t>软件系统结构的总体设计</a:t>
            </a:r>
          </a:p>
          <a:p>
            <a:r>
              <a:rPr lang="zh-CN" altLang="en-US" dirty="0"/>
              <a:t>处理方式设计（性能设计）</a:t>
            </a:r>
          </a:p>
          <a:p>
            <a:r>
              <a:rPr lang="zh-CN" altLang="en-US" dirty="0"/>
              <a:t>数据结构设计</a:t>
            </a:r>
          </a:p>
          <a:p>
            <a:r>
              <a:rPr lang="zh-CN" altLang="en-US" dirty="0"/>
              <a:t>可靠性设计（质量设计）</a:t>
            </a:r>
            <a:endParaRPr lang="en-US" altLang="zh-CN" dirty="0"/>
          </a:p>
          <a:p>
            <a:r>
              <a:rPr lang="zh-CN" altLang="en-US" dirty="0"/>
              <a:t>界面设计（需求的直接表达方式）</a:t>
            </a:r>
          </a:p>
          <a:p>
            <a:r>
              <a:rPr lang="zh-CN" altLang="en-US" dirty="0">
                <a:solidFill>
                  <a:srgbClr val="FF0000"/>
                </a:solidFill>
              </a:rPr>
              <a:t>编写软件概要设计说明书</a:t>
            </a:r>
          </a:p>
          <a:p>
            <a:r>
              <a:rPr lang="zh-CN" altLang="en-US" dirty="0"/>
              <a:t>概要设计评审</a:t>
            </a:r>
          </a:p>
        </p:txBody>
      </p:sp>
      <p:sp>
        <p:nvSpPr>
          <p:cNvPr id="4" name="日期占位符 3"/>
          <p:cNvSpPr>
            <a:spLocks noGrp="1"/>
          </p:cNvSpPr>
          <p:nvPr>
            <p:ph type="dt" sz="half" idx="10"/>
          </p:nvPr>
        </p:nvSpPr>
        <p:spPr/>
        <p:txBody>
          <a:bodyPr/>
          <a:lstStyle/>
          <a:p>
            <a:fld id="{7F5C6075-193A-4C91-8B79-09BF951C3596}"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7</a:t>
            </a:fld>
            <a:endParaRPr lang="zh-CN" altLang="en-US" dirty="0"/>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a:t>软件详细设计</a:t>
            </a:r>
          </a:p>
        </p:txBody>
      </p:sp>
      <p:sp>
        <p:nvSpPr>
          <p:cNvPr id="28676" name="Rectangle 3"/>
          <p:cNvSpPr>
            <a:spLocks noGrp="1" noChangeArrowheads="1"/>
          </p:cNvSpPr>
          <p:nvPr>
            <p:ph idx="1"/>
          </p:nvPr>
        </p:nvSpPr>
        <p:spPr/>
        <p:txBody>
          <a:bodyPr/>
          <a:lstStyle/>
          <a:p>
            <a:pPr marL="355600" indent="-355600"/>
            <a:r>
              <a:rPr lang="zh-CN" altLang="en-US" dirty="0"/>
              <a:t>确定软件各个功能模块内的算法以及各功能模块的内部数据组织。</a:t>
            </a:r>
          </a:p>
          <a:p>
            <a:pPr marL="355600" indent="-355600"/>
            <a:r>
              <a:rPr lang="zh-CN" altLang="en-US" dirty="0"/>
              <a:t>选定某种表达形式来描述各种算法。</a:t>
            </a:r>
            <a:endParaRPr lang="en-US" altLang="zh-CN" dirty="0"/>
          </a:p>
          <a:p>
            <a:pPr marL="355600" indent="-355600"/>
            <a:r>
              <a:rPr lang="zh-CN" altLang="en-US" dirty="0"/>
              <a:t>编写软件详细设计说明书</a:t>
            </a:r>
          </a:p>
          <a:p>
            <a:pPr marL="355600" indent="-355600"/>
            <a:r>
              <a:rPr lang="zh-CN" altLang="en-US" dirty="0"/>
              <a:t>进行详细设计的评审。</a:t>
            </a:r>
          </a:p>
        </p:txBody>
      </p:sp>
      <p:sp>
        <p:nvSpPr>
          <p:cNvPr id="4" name="日期占位符 3"/>
          <p:cNvSpPr>
            <a:spLocks noGrp="1"/>
          </p:cNvSpPr>
          <p:nvPr>
            <p:ph type="dt" sz="half" idx="10"/>
          </p:nvPr>
        </p:nvSpPr>
        <p:spPr/>
        <p:txBody>
          <a:bodyPr/>
          <a:lstStyle/>
          <a:p>
            <a:fld id="{0A01F0F3-6142-4EF0-BE12-E8C557E0E9E8}"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8</a:t>
            </a:fld>
            <a:endParaRPr lang="zh-CN" altLang="en-US" dirty="0"/>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zh-CN" altLang="en-US" dirty="0"/>
              <a:t>软件设计模型</a:t>
            </a:r>
          </a:p>
        </p:txBody>
      </p:sp>
      <p:sp>
        <p:nvSpPr>
          <p:cNvPr id="60419" name="Rectangle 3"/>
          <p:cNvSpPr>
            <a:spLocks noGrp="1" noChangeArrowheads="1"/>
          </p:cNvSpPr>
          <p:nvPr>
            <p:ph idx="1"/>
          </p:nvPr>
        </p:nvSpPr>
        <p:spPr>
          <a:xfrm>
            <a:off x="551384" y="1052736"/>
            <a:ext cx="11089231" cy="5124227"/>
          </a:xfrm>
        </p:spPr>
        <p:txBody>
          <a:bodyPr>
            <a:normAutofit/>
          </a:bodyPr>
          <a:lstStyle/>
          <a:p>
            <a:r>
              <a:rPr lang="zh-CN" altLang="en-US" dirty="0"/>
              <a:t>软件设计既是过程又是模型。</a:t>
            </a:r>
          </a:p>
          <a:p>
            <a:r>
              <a:rPr lang="zh-CN" altLang="en-US" dirty="0"/>
              <a:t>软件设计模型由两个部分构成：</a:t>
            </a:r>
            <a:endParaRPr lang="en-US" altLang="zh-CN" dirty="0"/>
          </a:p>
          <a:p>
            <a:pPr lvl="1"/>
            <a:r>
              <a:rPr lang="zh-CN" altLang="zh-CN" dirty="0"/>
              <a:t>动态结构</a:t>
            </a:r>
            <a:r>
              <a:rPr lang="zh-CN" altLang="en-US" dirty="0"/>
              <a:t>设计：</a:t>
            </a:r>
            <a:r>
              <a:rPr lang="zh-CN" altLang="zh-CN" dirty="0"/>
              <a:t>以某种方式表示功能响应</a:t>
            </a:r>
            <a:r>
              <a:rPr lang="zh-CN" altLang="en-US" dirty="0"/>
              <a:t>客户请求</a:t>
            </a:r>
            <a:r>
              <a:rPr lang="zh-CN" altLang="zh-CN" dirty="0"/>
              <a:t>时处理数据的过程或条件，用于进一步解释软件结构中各功能之间是如何协调工作的机制，解释这些功能存在的必要性。</a:t>
            </a:r>
            <a:endParaRPr lang="en-US" altLang="zh-CN" dirty="0"/>
          </a:p>
          <a:p>
            <a:pPr lvl="1"/>
            <a:r>
              <a:rPr lang="zh-CN" altLang="zh-CN" dirty="0"/>
              <a:t>静态结构</a:t>
            </a:r>
            <a:r>
              <a:rPr lang="zh-CN" altLang="en-US" dirty="0"/>
              <a:t>设计：</a:t>
            </a:r>
            <a:r>
              <a:rPr lang="zh-CN" altLang="zh-CN" dirty="0"/>
              <a:t>由软件的功能结构和数据结构组成，展示软件系统能够满足所有需求的框架</a:t>
            </a:r>
            <a:r>
              <a:rPr lang="zh-CN" altLang="zh-CN"/>
              <a:t>结构；展示为了满足所有功能需求系统所必备的功能模块及其关系。</a:t>
            </a:r>
            <a:endParaRPr lang="en-US" altLang="zh-CN" dirty="0"/>
          </a:p>
          <a:p>
            <a:r>
              <a:rPr lang="zh-CN" altLang="en-US" dirty="0"/>
              <a:t>软件的设计活动</a:t>
            </a:r>
            <a:endParaRPr lang="en-US" altLang="zh-CN" dirty="0"/>
          </a:p>
          <a:p>
            <a:pPr lvl="1"/>
            <a:r>
              <a:rPr lang="zh-CN" altLang="en-US" dirty="0"/>
              <a:t>系统结构设计及数据结构设计；</a:t>
            </a:r>
            <a:endParaRPr lang="en-US" altLang="zh-CN" dirty="0"/>
          </a:p>
          <a:p>
            <a:pPr lvl="1"/>
            <a:r>
              <a:rPr lang="zh-CN" altLang="en-US" dirty="0"/>
              <a:t>接口设计和过程设计；</a:t>
            </a:r>
            <a:endParaRPr lang="en-US" altLang="zh-CN" dirty="0"/>
          </a:p>
          <a:p>
            <a:pPr lvl="1"/>
            <a:r>
              <a:rPr lang="zh-CN" altLang="en-US" dirty="0"/>
              <a:t>界面设计、组件设计及优化设计等；</a:t>
            </a:r>
          </a:p>
        </p:txBody>
      </p:sp>
      <p:sp>
        <p:nvSpPr>
          <p:cNvPr id="4" name="日期占位符 3"/>
          <p:cNvSpPr>
            <a:spLocks noGrp="1"/>
          </p:cNvSpPr>
          <p:nvPr>
            <p:ph type="dt" sz="half" idx="10"/>
          </p:nvPr>
        </p:nvSpPr>
        <p:spPr/>
        <p:txBody>
          <a:bodyPr/>
          <a:lstStyle/>
          <a:p>
            <a:fld id="{88282C7F-F0E0-4807-A258-D0C92C98171D}"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9</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5" dur="500"/>
                                        <p:tgtEl>
                                          <p:spTgt spid="6041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18" dur="500"/>
                                        <p:tgtEl>
                                          <p:spTgt spid="604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3" dur="500"/>
                                        <p:tgtEl>
                                          <p:spTgt spid="6041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26" dur="500"/>
                                        <p:tgtEl>
                                          <p:spTgt spid="6041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29" dur="500"/>
                                        <p:tgtEl>
                                          <p:spTgt spid="60419">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32" dur="500"/>
                                        <p:tgtEl>
                                          <p:spTgt spid="604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a:t>软件设计的一般性原则 </a:t>
            </a:r>
          </a:p>
        </p:txBody>
      </p:sp>
      <p:sp>
        <p:nvSpPr>
          <p:cNvPr id="31748" name="Rectangle 3"/>
          <p:cNvSpPr>
            <a:spLocks noGrp="1" noChangeArrowheads="1"/>
          </p:cNvSpPr>
          <p:nvPr>
            <p:ph idx="1"/>
          </p:nvPr>
        </p:nvSpPr>
        <p:spPr>
          <a:xfrm>
            <a:off x="551384" y="921228"/>
            <a:ext cx="11089231" cy="5255735"/>
          </a:xfrm>
        </p:spPr>
        <p:txBody>
          <a:bodyPr>
            <a:normAutofit fontScale="85000" lnSpcReduction="10000"/>
          </a:bodyPr>
          <a:lstStyle/>
          <a:p>
            <a:pPr lvl="0"/>
            <a:r>
              <a:rPr lang="en-US" altLang="zh-CN" dirty="0"/>
              <a:t>The design process should not suffer from ‘tunnel vision.’   </a:t>
            </a:r>
            <a:endParaRPr lang="zh-CN" altLang="zh-CN" dirty="0"/>
          </a:p>
          <a:p>
            <a:pPr lvl="0"/>
            <a:r>
              <a:rPr lang="en-US" altLang="zh-CN" dirty="0"/>
              <a:t>The design should be traceable to the analysis model. </a:t>
            </a:r>
            <a:endParaRPr lang="zh-CN" altLang="zh-CN" dirty="0"/>
          </a:p>
          <a:p>
            <a:pPr lvl="0"/>
            <a:r>
              <a:rPr lang="en-US" altLang="zh-CN" b="1" dirty="0">
                <a:solidFill>
                  <a:srgbClr val="FF0000"/>
                </a:solidFill>
              </a:rPr>
              <a:t>The design should not reinvent the wheel. </a:t>
            </a:r>
            <a:endParaRPr lang="zh-CN" altLang="zh-CN" b="1" dirty="0">
              <a:solidFill>
                <a:srgbClr val="FF0000"/>
              </a:solidFill>
            </a:endParaRPr>
          </a:p>
          <a:p>
            <a:pPr lvl="0"/>
            <a:r>
              <a:rPr lang="en-US" altLang="zh-CN" dirty="0"/>
              <a:t>The design should “minimize the intellectual distance” between the software and the problem as it exists in the real world. </a:t>
            </a:r>
            <a:endParaRPr lang="zh-CN" altLang="zh-CN" dirty="0"/>
          </a:p>
          <a:p>
            <a:pPr lvl="0"/>
            <a:r>
              <a:rPr lang="en-US" altLang="zh-CN" dirty="0"/>
              <a:t>The design should exhibit uniformity and integration. </a:t>
            </a:r>
            <a:endParaRPr lang="zh-CN" altLang="zh-CN" dirty="0"/>
          </a:p>
          <a:p>
            <a:pPr lvl="0"/>
            <a:r>
              <a:rPr lang="en-US" altLang="zh-CN" b="1" dirty="0">
                <a:solidFill>
                  <a:srgbClr val="FF0000"/>
                </a:solidFill>
              </a:rPr>
              <a:t>The design should be structured to accommodate change. </a:t>
            </a:r>
            <a:endParaRPr lang="zh-CN" altLang="zh-CN" b="1" dirty="0">
              <a:solidFill>
                <a:srgbClr val="FF0000"/>
              </a:solidFill>
            </a:endParaRPr>
          </a:p>
          <a:p>
            <a:pPr lvl="0"/>
            <a:r>
              <a:rPr lang="en-US" altLang="zh-CN" dirty="0"/>
              <a:t>The design should be structured to degrade gently, even when aberrant data, events, or operating conditions are encountered. </a:t>
            </a:r>
            <a:r>
              <a:rPr lang="zh-CN" altLang="en-US" dirty="0"/>
              <a:t>（异常保护机制）</a:t>
            </a:r>
            <a:endParaRPr lang="zh-CN" altLang="zh-CN" dirty="0"/>
          </a:p>
          <a:p>
            <a:pPr lvl="0"/>
            <a:r>
              <a:rPr lang="en-US" altLang="zh-CN" b="1" dirty="0">
                <a:solidFill>
                  <a:srgbClr val="FF0000"/>
                </a:solidFill>
              </a:rPr>
              <a:t>Design is not coding, coding is not design</a:t>
            </a:r>
            <a:r>
              <a:rPr lang="en-US" altLang="zh-CN" dirty="0">
                <a:solidFill>
                  <a:srgbClr val="FF0000"/>
                </a:solidFill>
              </a:rPr>
              <a:t>. </a:t>
            </a:r>
            <a:endParaRPr lang="zh-CN" altLang="zh-CN" dirty="0">
              <a:solidFill>
                <a:srgbClr val="FF0000"/>
              </a:solidFill>
            </a:endParaRPr>
          </a:p>
          <a:p>
            <a:pPr lvl="0"/>
            <a:r>
              <a:rPr lang="en-US" altLang="zh-CN" dirty="0"/>
              <a:t>The design should be assessed for quality as it is being created, not after the fact. </a:t>
            </a:r>
            <a:endParaRPr lang="zh-CN" altLang="zh-CN" dirty="0"/>
          </a:p>
          <a:p>
            <a:pPr lvl="0"/>
            <a:r>
              <a:rPr lang="en-US" altLang="zh-CN" dirty="0"/>
              <a:t>The design should be reviewed to minimize conceptual (semantic) errors.</a:t>
            </a:r>
            <a:endParaRPr lang="zh-CN" altLang="zh-CN" dirty="0"/>
          </a:p>
        </p:txBody>
      </p:sp>
      <p:sp>
        <p:nvSpPr>
          <p:cNvPr id="4" name="日期占位符 3"/>
          <p:cNvSpPr>
            <a:spLocks noGrp="1"/>
          </p:cNvSpPr>
          <p:nvPr>
            <p:ph type="dt" sz="half" idx="10"/>
          </p:nvPr>
        </p:nvSpPr>
        <p:spPr/>
        <p:txBody>
          <a:bodyPr/>
          <a:lstStyle/>
          <a:p>
            <a:fld id="{141ABD99-A4DD-4E65-B938-AB6B57DF7410}"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10</a:t>
            </a:fld>
            <a:endParaRPr lang="zh-CN" altLang="en-US" dirty="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dirty="0"/>
              <a:t>衡量设计过程的技术原则</a:t>
            </a:r>
          </a:p>
        </p:txBody>
      </p:sp>
      <p:sp>
        <p:nvSpPr>
          <p:cNvPr id="32772" name="Rectangle 3"/>
          <p:cNvSpPr>
            <a:spLocks noGrp="1" noChangeArrowheads="1"/>
          </p:cNvSpPr>
          <p:nvPr>
            <p:ph idx="1"/>
          </p:nvPr>
        </p:nvSpPr>
        <p:spPr/>
        <p:txBody>
          <a:bodyPr>
            <a:normAutofit/>
          </a:bodyPr>
          <a:lstStyle/>
          <a:p>
            <a:pPr lvl="0"/>
            <a:r>
              <a:rPr lang="zh-CN" altLang="zh-CN" dirty="0">
                <a:solidFill>
                  <a:srgbClr val="FF0000"/>
                </a:solidFill>
              </a:rPr>
              <a:t>设计过程应该是可追踪和可回溯的。</a:t>
            </a:r>
          </a:p>
          <a:p>
            <a:pPr lvl="0"/>
            <a:r>
              <a:rPr lang="zh-CN" altLang="zh-CN" dirty="0">
                <a:solidFill>
                  <a:srgbClr val="FF0000"/>
                </a:solidFill>
              </a:rPr>
              <a:t>设计必须实现分析模型中描述的所有显式需求</a:t>
            </a:r>
            <a:r>
              <a:rPr lang="zh-CN" altLang="en-US" dirty="0">
                <a:solidFill>
                  <a:srgbClr val="FF0000"/>
                </a:solidFill>
              </a:rPr>
              <a:t>；</a:t>
            </a:r>
            <a:endParaRPr lang="en-US" altLang="zh-CN" dirty="0">
              <a:solidFill>
                <a:srgbClr val="FF0000"/>
              </a:solidFill>
            </a:endParaRPr>
          </a:p>
          <a:p>
            <a:pPr lvl="0"/>
            <a:r>
              <a:rPr lang="zh-CN" altLang="en-US" dirty="0">
                <a:solidFill>
                  <a:srgbClr val="FF0000"/>
                </a:solidFill>
              </a:rPr>
              <a:t>必须</a:t>
            </a:r>
            <a:r>
              <a:rPr lang="zh-CN" altLang="zh-CN" dirty="0">
                <a:solidFill>
                  <a:srgbClr val="FF0000"/>
                </a:solidFill>
              </a:rPr>
              <a:t>满足用户希望的所有隐式需求。</a:t>
            </a:r>
            <a:endParaRPr lang="en-US" altLang="zh-CN" dirty="0">
              <a:solidFill>
                <a:srgbClr val="FF0000"/>
              </a:solidFill>
            </a:endParaRPr>
          </a:p>
          <a:p>
            <a:pPr lvl="1"/>
            <a:r>
              <a:rPr lang="zh-CN" altLang="zh-CN" dirty="0"/>
              <a:t>所谓隐式需求</a:t>
            </a:r>
            <a:r>
              <a:rPr lang="zh-CN" altLang="en-US" dirty="0"/>
              <a:t>，</a:t>
            </a:r>
            <a:r>
              <a:rPr lang="zh-CN" altLang="zh-CN" dirty="0"/>
              <a:t>如系统的安全性要求，降低或消除功能性错误，数据安全和完整性要求等。</a:t>
            </a:r>
          </a:p>
          <a:p>
            <a:pPr lvl="0"/>
            <a:r>
              <a:rPr lang="zh-CN" altLang="zh-CN" dirty="0"/>
              <a:t>对于开发者和未来的维护者而言，设计说明文档必须是可读的、可理解的，使得将来易于编程、易于测试、易于维护。</a:t>
            </a:r>
          </a:p>
        </p:txBody>
      </p:sp>
      <p:sp>
        <p:nvSpPr>
          <p:cNvPr id="4" name="日期占位符 3"/>
          <p:cNvSpPr>
            <a:spLocks noGrp="1"/>
          </p:cNvSpPr>
          <p:nvPr>
            <p:ph type="dt" sz="half" idx="10"/>
          </p:nvPr>
        </p:nvSpPr>
        <p:spPr/>
        <p:txBody>
          <a:bodyPr/>
          <a:lstStyle/>
          <a:p>
            <a:fld id="{9069D896-8293-458D-941C-8897C2F4C785}"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11</a:t>
            </a:fld>
            <a:endParaRPr lang="zh-CN" altLang="en-US" dirty="0"/>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衡量设计模型的技术原则</a:t>
            </a:r>
          </a:p>
        </p:txBody>
      </p:sp>
      <p:sp>
        <p:nvSpPr>
          <p:cNvPr id="3" name="内容占位符 2"/>
          <p:cNvSpPr>
            <a:spLocks noGrp="1"/>
          </p:cNvSpPr>
          <p:nvPr>
            <p:ph idx="1"/>
          </p:nvPr>
        </p:nvSpPr>
        <p:spPr/>
        <p:txBody>
          <a:bodyPr/>
          <a:lstStyle/>
          <a:p>
            <a:pPr lvl="0"/>
            <a:r>
              <a:rPr lang="zh-CN" altLang="zh-CN" dirty="0"/>
              <a:t>设计模型应该展现软件的全貌，包括从实现角度可看到的数据、功能、行为。</a:t>
            </a:r>
          </a:p>
          <a:p>
            <a:pPr lvl="0"/>
            <a:r>
              <a:rPr lang="zh-CN" altLang="zh-CN" dirty="0"/>
              <a:t>设计模型应该是一个</a:t>
            </a:r>
            <a:r>
              <a:rPr lang="zh-CN" altLang="zh-CN" dirty="0">
                <a:solidFill>
                  <a:srgbClr val="FF0000"/>
                </a:solidFill>
              </a:rPr>
              <a:t>分层结构</a:t>
            </a:r>
            <a:r>
              <a:rPr lang="zh-CN" altLang="zh-CN" dirty="0"/>
              <a:t>。该结构：</a:t>
            </a:r>
          </a:p>
          <a:p>
            <a:pPr lvl="1"/>
            <a:r>
              <a:rPr lang="zh-CN" altLang="zh-CN" dirty="0"/>
              <a:t>使用可识别的设计模式搭建系统结构；</a:t>
            </a:r>
          </a:p>
          <a:p>
            <a:pPr lvl="1"/>
            <a:r>
              <a:rPr lang="zh-CN" altLang="zh-CN" dirty="0"/>
              <a:t>由具备良好设计特征的构件构成；</a:t>
            </a:r>
          </a:p>
          <a:p>
            <a:pPr lvl="1"/>
            <a:r>
              <a:rPr lang="zh-CN" altLang="zh-CN" dirty="0"/>
              <a:t>可以用演化的方式实现；</a:t>
            </a:r>
          </a:p>
          <a:p>
            <a:pPr lvl="0"/>
            <a:r>
              <a:rPr lang="zh-CN" altLang="zh-CN" dirty="0"/>
              <a:t>设计应当</a:t>
            </a:r>
            <a:r>
              <a:rPr lang="zh-CN" altLang="zh-CN" dirty="0">
                <a:solidFill>
                  <a:srgbClr val="FF0000"/>
                </a:solidFill>
              </a:rPr>
              <a:t>模块化</a:t>
            </a:r>
            <a:r>
              <a:rPr lang="zh-CN" altLang="zh-CN" dirty="0"/>
              <a:t>，即应当建立具有独立功能特征的构件。</a:t>
            </a:r>
          </a:p>
          <a:p>
            <a:pPr lvl="0"/>
            <a:r>
              <a:rPr lang="zh-CN" altLang="zh-CN" dirty="0"/>
              <a:t>设计应当建立能够降低模块与外部环境之间复杂连接的接口。</a:t>
            </a:r>
          </a:p>
          <a:p>
            <a:pPr lvl="0"/>
            <a:r>
              <a:rPr lang="zh-CN" altLang="zh-CN" dirty="0"/>
              <a:t>设计应当根据将要实现的对象和数据导出合适的数据结构。</a:t>
            </a:r>
          </a:p>
          <a:p>
            <a:endParaRPr lang="zh-CN" altLang="en-US" dirty="0"/>
          </a:p>
        </p:txBody>
      </p:sp>
      <p:sp>
        <p:nvSpPr>
          <p:cNvPr id="4" name="日期占位符 3"/>
          <p:cNvSpPr>
            <a:spLocks noGrp="1"/>
          </p:cNvSpPr>
          <p:nvPr>
            <p:ph type="dt" sz="half" idx="10"/>
          </p:nvPr>
        </p:nvSpPr>
        <p:spPr/>
        <p:txBody>
          <a:bodyPr/>
          <a:lstStyle/>
          <a:p>
            <a:fld id="{D2A1E775-8B13-43B0-B33D-46180DE4B343}"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12</a:t>
            </a:fld>
            <a:endParaRPr lang="zh-CN" altLang="en-US" dirty="0"/>
          </a:p>
        </p:txBody>
      </p:sp>
    </p:spTree>
  </p:cSld>
  <p:clrMapOvr>
    <a:masterClrMapping/>
  </p:clrMapOvr>
  <p:transition>
    <p:push/>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1166</Words>
  <Application>Microsoft Office PowerPoint</Application>
  <PresentationFormat>宽屏</PresentationFormat>
  <Paragraphs>131</Paragraphs>
  <Slides>12</Slides>
  <Notes>2</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18" baseType="lpstr">
      <vt:lpstr>微软雅黑</vt:lpstr>
      <vt:lpstr>Arial</vt:lpstr>
      <vt:lpstr>Calibri</vt:lpstr>
      <vt:lpstr>Calibri Light</vt:lpstr>
      <vt:lpstr>2015SE</vt:lpstr>
      <vt:lpstr>Visio</vt:lpstr>
      <vt:lpstr>PowerPoint 演示文稿</vt:lpstr>
      <vt:lpstr>本章内容</vt:lpstr>
      <vt:lpstr>引言</vt:lpstr>
      <vt:lpstr>软件设计历史</vt:lpstr>
      <vt:lpstr>软件设计的目标</vt:lpstr>
      <vt:lpstr>软件设计过程</vt:lpstr>
      <vt:lpstr>软件概要设计</vt:lpstr>
      <vt:lpstr>软件详细设计</vt:lpstr>
      <vt:lpstr>软件设计模型</vt:lpstr>
      <vt:lpstr>软件设计的一般性原则 </vt:lpstr>
      <vt:lpstr>衡量设计过程的技术原则</vt:lpstr>
      <vt:lpstr>衡量设计模型的技术原则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
  <cp:revision>159</cp:revision>
  <dcterms:created xsi:type="dcterms:W3CDTF">2019-06-19T02:08:00Z</dcterms:created>
  <dcterms:modified xsi:type="dcterms:W3CDTF">2024-09-09T07:12:33Z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2052-12.1.0.15933</vt:lpwstr>
  </property>
  <property fmtid="{D5CDD505-2E9C-101B-9397-08002B2CF9AE}" pid="3" name="ICV">
    <vt:lpwstr>0A4081B3C0424630A35D5C361DB0E652_11</vt:lpwstr>
  </property>
</Properties>
</file>