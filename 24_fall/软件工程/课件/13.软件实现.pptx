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42" r:id="rId2"/>
    <p:sldId id="260" r:id="rId3"/>
    <p:sldId id="261" r:id="rId4"/>
    <p:sldId id="344" r:id="rId5"/>
    <p:sldId id="345" r:id="rId6"/>
    <p:sldId id="346" r:id="rId7"/>
    <p:sldId id="347" r:id="rId8"/>
  </p:sldIdLst>
  <p:sldSz cx="12192000" cy="6858000"/>
  <p:notesSz cx="6858000" cy="9144000"/>
  <p:defaultTextStyle>
    <a:defPPr>
      <a:defRPr lang="zh-CN"/>
    </a:defPPr>
    <a:lvl1pPr algn="r" rtl="0" eaLnBrk="0" fontAlgn="base" hangingPunct="0">
      <a:lnSpc>
        <a:spcPct val="75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华文细黑" panose="02010600040101010101" pitchFamily="2" charset="-122"/>
        <a:cs typeface="+mn-cs"/>
      </a:defRPr>
    </a:lvl1pPr>
    <a:lvl2pPr marL="457200" algn="r" rtl="0" eaLnBrk="0" fontAlgn="base" hangingPunct="0">
      <a:lnSpc>
        <a:spcPct val="75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华文细黑" panose="02010600040101010101" pitchFamily="2" charset="-122"/>
        <a:cs typeface="+mn-cs"/>
      </a:defRPr>
    </a:lvl2pPr>
    <a:lvl3pPr marL="914400" algn="r" rtl="0" eaLnBrk="0" fontAlgn="base" hangingPunct="0">
      <a:lnSpc>
        <a:spcPct val="75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华文细黑" panose="02010600040101010101" pitchFamily="2" charset="-122"/>
        <a:cs typeface="+mn-cs"/>
      </a:defRPr>
    </a:lvl3pPr>
    <a:lvl4pPr marL="1371600" algn="r" rtl="0" eaLnBrk="0" fontAlgn="base" hangingPunct="0">
      <a:lnSpc>
        <a:spcPct val="75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华文细黑" panose="02010600040101010101" pitchFamily="2" charset="-122"/>
        <a:cs typeface="+mn-cs"/>
      </a:defRPr>
    </a:lvl4pPr>
    <a:lvl5pPr marL="1828800" algn="r" rtl="0" eaLnBrk="0" fontAlgn="base" hangingPunct="0">
      <a:lnSpc>
        <a:spcPct val="75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华文细黑" panose="0201060004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华文细黑" panose="0201060004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华文细黑" panose="0201060004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华文细黑" panose="0201060004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华文细黑" panose="020106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5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76" autoAdjust="0"/>
    <p:restoredTop sz="90791" autoAdjust="0"/>
  </p:normalViewPr>
  <p:slideViewPr>
    <p:cSldViewPr>
      <p:cViewPr varScale="1">
        <p:scale>
          <a:sx n="84" d="100"/>
          <a:sy n="84" d="100"/>
        </p:scale>
        <p:origin x="605" y="82"/>
      </p:cViewPr>
      <p:guideLst>
        <p:guide orient="horz" pos="2175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1404" y="-90"/>
      </p:cViewPr>
      <p:guideLst>
        <p:guide orient="horz" pos="290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defRPr sz="12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defRPr sz="12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lnSpc>
                <a:spcPct val="100000"/>
              </a:lnSpc>
              <a:defRPr sz="12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defRPr sz="1200">
                <a:ea typeface="宋体" panose="02010600030101010101" pitchFamily="2" charset="-122"/>
              </a:defRPr>
            </a:lvl1pPr>
          </a:lstStyle>
          <a:p>
            <a:fld id="{72A2E6C2-95BD-4C58-AA1E-BE13C7D16706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defRPr sz="12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defRPr sz="12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lnSpc>
                <a:spcPct val="100000"/>
              </a:lnSpc>
              <a:defRPr sz="12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defRPr sz="1200">
                <a:ea typeface="宋体" panose="02010600030101010101" pitchFamily="2" charset="-122"/>
              </a:defRPr>
            </a:lvl1pPr>
          </a:lstStyle>
          <a:p>
            <a:fld id="{ED9DD337-D876-427D-92DB-812F3941FF57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F5C26-33B9-4C93-BD21-A507E0647A82}" type="slidenum">
              <a:rPr lang="zh-CN" altLang="en-US" smtClean="0">
                <a:solidFill>
                  <a:prstClr val="black"/>
                </a:solidFill>
              </a:rPr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61CC06-C13F-4CDA-8B86-F0055D2378FA}" type="datetime1">
              <a:rPr lang="zh-CN" altLang="en-US" smtClean="0"/>
              <a:t>2024/9/9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gradFill>
            <a:gsLst>
              <a:gs pos="0">
                <a:schemeClr val="dk1">
                  <a:satMod val="103000"/>
                  <a:lumMod val="102000"/>
                  <a:tint val="94000"/>
                </a:schemeClr>
              </a:gs>
              <a:gs pos="50000">
                <a:schemeClr val="dk1">
                  <a:satMod val="110000"/>
                  <a:lumMod val="100000"/>
                  <a:shade val="100000"/>
                </a:schemeClr>
              </a:gs>
              <a:gs pos="100000">
                <a:schemeClr val="dk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人工智能学院</a:t>
            </a:r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gradFill>
            <a:gsLst>
              <a:gs pos="0">
                <a:schemeClr val="dk1">
                  <a:satMod val="103000"/>
                  <a:lumMod val="102000"/>
                  <a:tint val="94000"/>
                </a:schemeClr>
              </a:gs>
              <a:gs pos="50000">
                <a:schemeClr val="dk1">
                  <a:satMod val="110000"/>
                  <a:lumMod val="100000"/>
                  <a:shade val="100000"/>
                </a:schemeClr>
              </a:gs>
              <a:gs pos="100000">
                <a:schemeClr val="dk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C61107-C9B8-45B5-BD23-C8A00455B7E2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flip="none" rotWithShape="1">
          <a:gsLst>
            <a:gs pos="89000">
              <a:schemeClr val="bg1">
                <a:lumMod val="95000"/>
              </a:schemeClr>
            </a:gs>
            <a:gs pos="100000">
              <a:schemeClr val="accent5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9788" y="278084"/>
            <a:ext cx="10334625" cy="645258"/>
          </a:xfrm>
        </p:spPr>
        <p:txBody>
          <a:bodyPr>
            <a:normAutofit/>
          </a:bodyPr>
          <a:lstStyle>
            <a:lvl1pPr algn="r">
              <a:defRPr sz="3200" b="1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1196123"/>
            <a:ext cx="11377263" cy="4980840"/>
          </a:xfrm>
        </p:spPr>
        <p:txBody>
          <a:bodyPr/>
          <a:lstStyle>
            <a:lvl1pPr>
              <a:lnSpc>
                <a:spcPct val="100000"/>
              </a:lnSpc>
              <a:spcAft>
                <a:spcPts val="450"/>
              </a:spcAft>
              <a:defRPr sz="24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Aft>
                <a:spcPts val="450"/>
              </a:spcAft>
              <a:defRPr sz="2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20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019175" y="6356351"/>
            <a:ext cx="2743200" cy="365125"/>
          </a:xfr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none"/>
        </p:style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fld id="{86A5BED7-C371-4529-B240-BEB8CE97724B}" type="datetime1">
              <a:rPr lang="zh-CN" altLang="en-US" smtClean="0"/>
              <a:t>2024/9/9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9087" y="6356351"/>
            <a:ext cx="4114800" cy="365125"/>
          </a:xfr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none"/>
        </p:style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zh-CN" altLang="en-US">
                <a:sym typeface="+mn-ea"/>
              </a:rPr>
              <a:t>人工智能学院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none"/>
        </p:style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C61107-C9B8-45B5-BD23-C8A00455B7E2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1C601-1081-40BA-9872-24E14D121A59}" type="datetime1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人工智能学院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1107-C9B8-45B5-BD23-C8A00455B7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6971F-467F-4213-AA31-2BD05A569E9E}" type="datetime1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人工智能学院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1107-C9B8-45B5-BD23-C8A00455B7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push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00000">
              <a:schemeClr val="accent5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none"/>
        </p:style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918477-9290-4CE8-BD31-77755C3B1B73}" type="datetime1">
              <a:rPr lang="zh-CN" altLang="en-US" smtClean="0"/>
              <a:t>2024/9/9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人工智能学院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61107-C9B8-45B5-BD23-C8A00455B7E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4D906E0-9CFB-6177-3C65-84547FAD678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768" y="-7119"/>
            <a:ext cx="1154636" cy="114817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>
    <p:push/>
  </p:transition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12569" y="1207714"/>
            <a:ext cx="63408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 模型与方法</a:t>
            </a:r>
            <a:endParaRPr lang="en-US" altLang="zh-CN" sz="40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Models &amp; Methods of SE</a:t>
            </a:r>
            <a:endParaRPr lang="zh-CN" altLang="en-US" sz="32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12569" y="3222755"/>
            <a:ext cx="515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软件实现</a:t>
            </a: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E61C-AC5C-45D8-8FD7-17C931F46E10}" type="datetime1">
              <a:rPr lang="zh-CN" altLang="en-US" smtClean="0"/>
              <a:t>2024/9/9</a:t>
            </a:fld>
            <a:endParaRPr lang="zh-CN" altLang="en-US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sym typeface="+mn-ea"/>
              </a:rPr>
              <a:t>人工智能学院</a:t>
            </a:r>
            <a:endParaRPr lang="en-US" altLang="zh-CN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1107-C9B8-45B5-BD23-C8A00455B7E2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2" name="文本框 11">
            <a:extLst>
              <a:ext uri="{FF2B5EF4-FFF2-40B4-BE49-F238E27FC236}">
                <a16:creationId xmlns:a16="http://schemas.microsoft.com/office/drawing/2014/main" id="{C4FFDE9E-50C1-FF44-EF71-0B387A1C23CC}"/>
              </a:ext>
            </a:extLst>
          </p:cNvPr>
          <p:cNvSpPr txBox="1"/>
          <p:nvPr/>
        </p:nvSpPr>
        <p:spPr>
          <a:xfrm>
            <a:off x="1812569" y="4221088"/>
            <a:ext cx="9616440" cy="326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肖丁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老师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dxiao@bupt.edu.cn 	   QQ:14915703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本章内容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dirty="0"/>
              <a:t>软件实现的目标与任务</a:t>
            </a:r>
            <a:endParaRPr lang="en-US" altLang="zh-CN" dirty="0"/>
          </a:p>
          <a:p>
            <a:pPr>
              <a:lnSpc>
                <a:spcPct val="80000"/>
              </a:lnSpc>
            </a:pPr>
            <a:r>
              <a:rPr lang="zh-CN" altLang="en-US" dirty="0"/>
              <a:t>程序语言的选择</a:t>
            </a:r>
            <a:endParaRPr lang="en-US" altLang="zh-CN" dirty="0"/>
          </a:p>
          <a:p>
            <a:pPr>
              <a:lnSpc>
                <a:spcPct val="80000"/>
              </a:lnSpc>
            </a:pPr>
            <a:r>
              <a:rPr lang="zh-CN" altLang="en-US" dirty="0"/>
              <a:t>源程序文档化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人工智能学院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B2974-EB02-4E02-9753-D6FA75DE75C5}" type="datetime1">
              <a:rPr lang="zh-CN" altLang="en-US" smtClean="0"/>
              <a:t>2024/9/9</a:t>
            </a:fld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1107-C9B8-45B5-BD23-C8A00455B7E2}" type="slidenum">
              <a:rPr lang="zh-CN" altLang="en-US" smtClean="0"/>
              <a:t>2</a:t>
            </a:fld>
            <a:endParaRPr lang="zh-CN" altLang="en-US" dirty="0"/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目标与任务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软件实现是软件详细设计的后续阶段及任务，即程序编码；</a:t>
            </a:r>
            <a:endParaRPr lang="en-US" altLang="zh-CN" dirty="0"/>
          </a:p>
          <a:p>
            <a:r>
              <a:rPr lang="zh-CN" altLang="en-US" dirty="0"/>
              <a:t>程序编码需要根据具体情况条件确定具体的程序设计语言；</a:t>
            </a:r>
            <a:endParaRPr lang="en-US" altLang="zh-CN" dirty="0"/>
          </a:p>
          <a:p>
            <a:r>
              <a:rPr lang="zh-CN" altLang="en-US" dirty="0"/>
              <a:t>按照详细设计及概要设计的要求转换成选定的编程语言；</a:t>
            </a:r>
            <a:endParaRPr lang="en-US" altLang="zh-CN" dirty="0"/>
          </a:p>
          <a:p>
            <a:r>
              <a:rPr lang="zh-CN" altLang="en-US" dirty="0"/>
              <a:t>进一步按照要求进行必要的软件单元测试，使可执行程序达到软件的质量要求。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人工智能学院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85F48-47E7-495E-9CF2-C615BD953AD2}" type="datetime1">
              <a:rPr lang="zh-CN" altLang="en-US" smtClean="0"/>
              <a:t>2024/9/9</a:t>
            </a:fld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1107-C9B8-45B5-BD23-C8A00455B7E2}" type="slidenum">
              <a:rPr lang="zh-CN" altLang="en-US" smtClean="0"/>
              <a:t>3</a:t>
            </a:fld>
            <a:endParaRPr lang="zh-CN" altLang="en-US" dirty="0"/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程序语言的选择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参考应用领域；</a:t>
            </a:r>
          </a:p>
          <a:p>
            <a:r>
              <a:rPr lang="zh-CN" altLang="en-US" dirty="0"/>
              <a:t>根据用户的要求；</a:t>
            </a:r>
          </a:p>
          <a:p>
            <a:r>
              <a:rPr lang="zh-CN" altLang="en-US" dirty="0"/>
              <a:t>参考现有的工具及环境；</a:t>
            </a:r>
          </a:p>
          <a:p>
            <a:r>
              <a:rPr lang="zh-CN" altLang="en-US" dirty="0"/>
              <a:t>程序员的能力水平；</a:t>
            </a:r>
          </a:p>
          <a:p>
            <a:r>
              <a:rPr lang="zh-CN" altLang="en-US" dirty="0"/>
              <a:t>可移植性的要求；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5412E-C90D-4BF7-87EB-37F37BFD1FE6}" type="datetime1">
              <a:rPr lang="zh-CN" altLang="en-US" smtClean="0"/>
              <a:t>2024/9/9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人工智能学院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1107-C9B8-45B5-BD23-C8A00455B7E2}" type="slidenum">
              <a:rPr lang="zh-CN" altLang="en-US" smtClean="0"/>
              <a:t>4</a:t>
            </a:fld>
            <a:endParaRPr lang="zh-CN" altLang="en-US" dirty="0"/>
          </a:p>
        </p:txBody>
      </p:sp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源程序文档化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1052736"/>
            <a:ext cx="11377263" cy="5124227"/>
          </a:xfrm>
        </p:spPr>
        <p:txBody>
          <a:bodyPr>
            <a:normAutofit/>
          </a:bodyPr>
          <a:lstStyle/>
          <a:p>
            <a:r>
              <a:rPr lang="zh-CN" altLang="en-US" dirty="0"/>
              <a:t>从软件工程的角度，对于源程序除了质量要求之外，为了后期代码的维护和更改，还必须从提高可阅读性，即达到源程序文档化。</a:t>
            </a:r>
            <a:endParaRPr lang="en-US" altLang="zh-CN" dirty="0"/>
          </a:p>
          <a:p>
            <a:pPr lvl="1"/>
            <a:r>
              <a:rPr lang="zh-CN" altLang="en-US" dirty="0"/>
              <a:t>标识符命名：模块名（类名及方法名），变量</a:t>
            </a:r>
            <a:r>
              <a:rPr lang="en-US" altLang="zh-CN" dirty="0"/>
              <a:t>/</a:t>
            </a:r>
            <a:r>
              <a:rPr lang="zh-CN" altLang="en-US" dirty="0"/>
              <a:t>常量名</a:t>
            </a:r>
            <a:endParaRPr lang="en-US" altLang="zh-CN" dirty="0"/>
          </a:p>
          <a:p>
            <a:pPr lvl="2"/>
            <a:r>
              <a:rPr lang="zh-CN" altLang="en-US" dirty="0"/>
              <a:t>名称需清楚表示具体的含义，采用添加前缀和后缀增加可阅读性；</a:t>
            </a:r>
            <a:endParaRPr lang="en-US" altLang="zh-CN" dirty="0"/>
          </a:p>
          <a:p>
            <a:pPr lvl="2"/>
            <a:r>
              <a:rPr lang="zh-CN" altLang="en-US" dirty="0"/>
              <a:t>使用专业术语（业务词汇），注意编码语言的关键字冲突；</a:t>
            </a:r>
            <a:endParaRPr lang="en-US" altLang="zh-CN" dirty="0"/>
          </a:p>
          <a:p>
            <a:pPr lvl="2"/>
            <a:r>
              <a:rPr lang="zh-CN" altLang="en-US" dirty="0"/>
              <a:t>注意大小写及长度；</a:t>
            </a:r>
            <a:endParaRPr lang="en-US" altLang="zh-CN" dirty="0"/>
          </a:p>
          <a:p>
            <a:pPr lvl="1"/>
            <a:r>
              <a:rPr lang="zh-CN" altLang="en-US" dirty="0"/>
              <a:t>源程序布局</a:t>
            </a:r>
            <a:endParaRPr lang="en-US" altLang="zh-CN" dirty="0"/>
          </a:p>
          <a:p>
            <a:pPr lvl="2"/>
            <a:r>
              <a:rPr lang="zh-CN" altLang="en-US" dirty="0"/>
              <a:t>编码之前定义统一的编码规范；</a:t>
            </a:r>
            <a:endParaRPr lang="en-US" altLang="zh-CN" dirty="0"/>
          </a:p>
          <a:p>
            <a:pPr lvl="2"/>
            <a:r>
              <a:rPr lang="zh-CN" altLang="en-US" dirty="0"/>
              <a:t>规定合理的注释、缩进、空格、空行等方式；</a:t>
            </a:r>
            <a:endParaRPr lang="en-US" altLang="zh-CN" dirty="0"/>
          </a:p>
          <a:p>
            <a:pPr lvl="1"/>
            <a:r>
              <a:rPr lang="zh-CN" altLang="en-US" dirty="0"/>
              <a:t>程序注释</a:t>
            </a:r>
            <a:endParaRPr lang="en-US" altLang="zh-CN" dirty="0"/>
          </a:p>
          <a:p>
            <a:pPr lvl="2"/>
            <a:r>
              <a:rPr lang="zh-CN" altLang="en-US" dirty="0"/>
              <a:t>序言性注释</a:t>
            </a:r>
            <a:endParaRPr lang="en-US" altLang="zh-CN" dirty="0"/>
          </a:p>
          <a:p>
            <a:pPr lvl="2"/>
            <a:r>
              <a:rPr lang="zh-CN" altLang="en-US" dirty="0"/>
              <a:t>功能性注释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7A9C5-AA70-48A9-8556-7B8220E42FC3}" type="datetime1">
              <a:rPr lang="zh-CN" altLang="en-US" smtClean="0"/>
              <a:t>2024/9/9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人工智能学院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1107-C9B8-45B5-BD23-C8A00455B7E2}" type="slidenum">
              <a:rPr lang="zh-CN" altLang="en-US" smtClean="0"/>
              <a:t>5</a:t>
            </a:fld>
            <a:endParaRPr lang="zh-CN" altLang="en-US" dirty="0"/>
          </a:p>
        </p:txBody>
      </p:sp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序言性注释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注释的目的：解释程序的主要内容及难点说明；</a:t>
            </a:r>
            <a:endParaRPr lang="en-US" altLang="zh-CN" dirty="0"/>
          </a:p>
          <a:p>
            <a:r>
              <a:rPr lang="zh-CN" altLang="en-US" dirty="0"/>
              <a:t>序言性注释：位于程序代码之前，说明该模块（类及方法）具体作用</a:t>
            </a:r>
            <a:endParaRPr lang="en-US" altLang="zh-CN" dirty="0"/>
          </a:p>
          <a:p>
            <a:r>
              <a:rPr lang="zh-CN" altLang="en-US" dirty="0"/>
              <a:t>主要包括以下内容：</a:t>
            </a:r>
            <a:endParaRPr lang="en-US" altLang="zh-CN" dirty="0"/>
          </a:p>
          <a:p>
            <a:pPr lvl="1"/>
            <a:r>
              <a:rPr lang="zh-CN" altLang="en-US" dirty="0"/>
              <a:t>程序标题：模块名称</a:t>
            </a:r>
            <a:endParaRPr lang="en-US" altLang="zh-CN" dirty="0"/>
          </a:p>
          <a:p>
            <a:pPr lvl="1"/>
            <a:r>
              <a:rPr lang="zh-CN" altLang="en-US" dirty="0"/>
              <a:t>模块描述：该模块的功能和目的说明</a:t>
            </a:r>
            <a:endParaRPr lang="en-US" altLang="zh-CN" dirty="0"/>
          </a:p>
          <a:p>
            <a:pPr lvl="1"/>
            <a:r>
              <a:rPr lang="zh-CN" altLang="en-US" dirty="0"/>
              <a:t>主要算法</a:t>
            </a:r>
            <a:r>
              <a:rPr lang="zh-CN" altLang="en-US" dirty="0">
                <a:sym typeface="Wingdings" panose="05000000000000000000" pitchFamily="2" charset="2"/>
              </a:rPr>
              <a:t>：（</a:t>
            </a:r>
            <a:r>
              <a:rPr lang="en-US" altLang="zh-CN" dirty="0">
                <a:sym typeface="Wingdings" panose="05000000000000000000" pitchFamily="2" charset="2"/>
              </a:rPr>
              <a:t>option</a:t>
            </a:r>
            <a:r>
              <a:rPr lang="zh-CN" altLang="en-US" dirty="0">
                <a:sym typeface="Wingdings" panose="05000000000000000000" pitchFamily="2" charset="2"/>
              </a:rPr>
              <a:t>）说明算法结构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接口说明：说明该模块与其他模块的调用关系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开发简历：</a:t>
            </a:r>
            <a:endParaRPr lang="en-US" altLang="zh-CN" dirty="0">
              <a:sym typeface="Wingdings" panose="05000000000000000000" pitchFamily="2" charset="2"/>
            </a:endParaRPr>
          </a:p>
          <a:p>
            <a:pPr lvl="2"/>
            <a:r>
              <a:rPr lang="zh-CN" altLang="en-US" dirty="0">
                <a:sym typeface="Wingdings" panose="05000000000000000000" pitchFamily="2" charset="2"/>
              </a:rPr>
              <a:t>创建者、创建时间；</a:t>
            </a:r>
            <a:endParaRPr lang="en-US" altLang="zh-CN" dirty="0">
              <a:sym typeface="Wingdings" panose="05000000000000000000" pitchFamily="2" charset="2"/>
            </a:endParaRPr>
          </a:p>
          <a:p>
            <a:pPr lvl="2"/>
            <a:r>
              <a:rPr lang="zh-CN" altLang="en-US" dirty="0">
                <a:sym typeface="Wingdings" panose="05000000000000000000" pitchFamily="2" charset="2"/>
              </a:rPr>
              <a:t>修改者、修改时间、修改内容；</a:t>
            </a:r>
            <a:endParaRPr lang="en-US" altLang="zh-CN" dirty="0">
              <a:sym typeface="Wingdings" panose="05000000000000000000" pitchFamily="2" charset="2"/>
            </a:endParaRPr>
          </a:p>
          <a:p>
            <a:pPr lvl="2"/>
            <a:r>
              <a:rPr lang="zh-CN" altLang="en-US" dirty="0">
                <a:sym typeface="Wingdings" panose="05000000000000000000" pitchFamily="2" charset="2"/>
              </a:rPr>
              <a:t>版本 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21EC-8B13-405D-A9D2-F7ABD961A712}" type="datetime1">
              <a:rPr lang="zh-CN" altLang="en-US" smtClean="0"/>
              <a:t>2024/9/9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人工智能学院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1107-C9B8-45B5-BD23-C8A00455B7E2}" type="slidenum">
              <a:rPr lang="zh-CN" altLang="en-US" smtClean="0"/>
              <a:t>6</a:t>
            </a:fld>
            <a:endParaRPr lang="zh-CN" altLang="en-US" dirty="0"/>
          </a:p>
        </p:txBody>
      </p:sp>
    </p:spTree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功能性注释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在序言性注释的基础上，对于程序体中复杂难于理解的程序结构进行局部说明；</a:t>
            </a:r>
            <a:endParaRPr lang="en-US" altLang="zh-CN" dirty="0"/>
          </a:p>
          <a:p>
            <a:pPr lvl="1"/>
            <a:r>
              <a:rPr lang="zh-CN" altLang="en-US" dirty="0"/>
              <a:t>主要描述一段程序，必要时对某一段进行说明；</a:t>
            </a:r>
            <a:endParaRPr lang="en-US" altLang="zh-CN" dirty="0"/>
          </a:p>
          <a:p>
            <a:pPr lvl="1"/>
            <a:r>
              <a:rPr lang="zh-CN" altLang="en-US" dirty="0"/>
              <a:t>修改代码的同时，对应的功能性注释也要进行修改；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E13C9-D9A6-4527-8274-07CDF28A11AA}" type="datetime1">
              <a:rPr lang="zh-CN" altLang="en-US" smtClean="0"/>
              <a:t>2024/9/9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人工智能学院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1107-C9B8-45B5-BD23-C8A00455B7E2}" type="slidenum">
              <a:rPr lang="zh-CN" altLang="en-US" smtClean="0"/>
              <a:t>7</a:t>
            </a:fld>
            <a:endParaRPr lang="zh-CN" altLang="en-US" dirty="0"/>
          </a:p>
        </p:txBody>
      </p:sp>
    </p:spTree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name="2015S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2015SE</Template>
  <TotalTime>0</TotalTime>
  <Words>425</Words>
  <Application>Microsoft Office PowerPoint</Application>
  <PresentationFormat>宽屏</PresentationFormat>
  <Paragraphs>69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微软雅黑</vt:lpstr>
      <vt:lpstr>Arial</vt:lpstr>
      <vt:lpstr>Calibri</vt:lpstr>
      <vt:lpstr>Calibri Light</vt:lpstr>
      <vt:lpstr>Wingdings</vt:lpstr>
      <vt:lpstr>2015SE</vt:lpstr>
      <vt:lpstr>PowerPoint 演示文稿</vt:lpstr>
      <vt:lpstr>本章内容</vt:lpstr>
      <vt:lpstr>目标与任务</vt:lpstr>
      <vt:lpstr>程序语言的选择</vt:lpstr>
      <vt:lpstr>源程序文档化</vt:lpstr>
      <vt:lpstr>序言性注释</vt:lpstr>
      <vt:lpstr>功能性注释</vt:lpstr>
    </vt:vector>
  </TitlesOfParts>
  <Company>bupt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软件工程 Software Engineering</dc:title>
  <dc:creator/>
  <cp:lastModifiedBy/>
  <cp:revision>154</cp:revision>
  <dcterms:created xsi:type="dcterms:W3CDTF">2008-02-20T09:21:00Z</dcterms:created>
  <dcterms:modified xsi:type="dcterms:W3CDTF">2024-09-09T07:12:48Z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2052-11.1.0.9584</vt:lpwstr>
  </property>
</Properties>
</file>